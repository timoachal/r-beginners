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B6CA8">
              <a:alpha val="20000"/>
            </a:srgbClr>
          </a:solidFill>
          <a:ln w="12700">
            <a:solidFill>
              <a:srgbClr val="1B6CA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Data in 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guide to loading CSV, Excel, Stata, SPSS &amp; more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3657600" cy="457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Programming Series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02920" cy="10515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1155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read.csv() &amp; readr::read_csv()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502920" cy="10515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4028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3500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Files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readxl &amp; openxlsx packages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74720"/>
            <a:ext cx="502920" cy="10515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747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35844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Stata (.dta)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3977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haven::read_dta()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005840"/>
            <a:ext cx="502920" cy="10515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0058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11155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(.sav)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40680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haven::read_sav()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24028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240280"/>
            <a:ext cx="502920" cy="10515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24028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0680" y="23500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(.sas7bdat)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4068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haven::read_sas()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4747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474720"/>
            <a:ext cx="502920" cy="10515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4747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40680" y="35844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&amp; Others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40680" y="3977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jsonlite &amp; other formats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CSV Files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Comma-Separated Values — the most common flat file format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3474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51560"/>
            <a:ext cx="64008" cy="1463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Packages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 R: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 (built-in)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Tidyverse: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readr package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Fast: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data.table::fread()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3474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97480"/>
            <a:ext cx="64008" cy="14630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1089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stringsAsFactors = FALSE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na.strings for missing values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header = TRUE (default)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06240" y="1005840"/>
            <a:ext cx="4663440" cy="3749040"/>
          </a:xfrm>
          <a:prstGeom prst="rect">
            <a:avLst/>
          </a:prstGeom>
          <a:solidFill>
            <a:srgbClr val="0F2744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1124712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44568" y="1124712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45736" y="1124712"/>
            <a:ext cx="118872" cy="118872"/>
          </a:xfrm>
          <a:prstGeom prst="ellipse">
            <a:avLst/>
          </a:prstGeom>
          <a:solidFill>
            <a:srgbClr val="28C940"/>
          </a:solidFill>
          <a:ln w="12700">
            <a:solidFill>
              <a:srgbClr val="28C9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1325880"/>
            <a:ext cx="43891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Base R approach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read.csv("data.csv")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read.csv("data.csv", header = TRUE,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stringsAsFactors = FALSE,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na.strings = c("NA", ""))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readr (tidyverse) — faster &amp; smarter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library(readr)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read_csv("data.csv")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read_csv("data.csv",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col_types = cols(age = col_integer()))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data.table — fastest for large files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library(data.table)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 &lt;- fread("data.csv")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Excel Files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.xlsx and .xls formats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3474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51560"/>
            <a:ext cx="64008" cy="1463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Packages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readxl: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Read-only, no Java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openxlsx: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write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XLConnect: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Java-based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3474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97480"/>
            <a:ext cx="64008" cy="14630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1089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sheet = to pick worksheet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skip = n to skip header rows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col_names = FALSE if no header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06240" y="1005840"/>
            <a:ext cx="4663440" cy="3749040"/>
          </a:xfrm>
          <a:prstGeom prst="rect">
            <a:avLst/>
          </a:prstGeom>
          <a:solidFill>
            <a:srgbClr val="0F2744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1124712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44568" y="1124712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45736" y="1124712"/>
            <a:ext cx="118872" cy="118872"/>
          </a:xfrm>
          <a:prstGeom prst="ellipse">
            <a:avLst/>
          </a:prstGeom>
          <a:solidFill>
            <a:srgbClr val="28C940"/>
          </a:solidFill>
          <a:ln w="12700">
            <a:solidFill>
              <a:srgbClr val="28C9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1325880"/>
            <a:ext cx="43891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readxl — recommended (no Java needed)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library(readxl)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Read first sheet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read_excel("data.xlsx")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Read specific sheet by name or index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read_excel("data.xlsx", sheet = "Sheet2")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read_excel("data.xlsx", sheet = 2)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 available sheets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excel_sheets("data.xlsx")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Advanced options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read_excel("data.xlsx",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range = "A1:D100",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skip = 2,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col_names = TRUE)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openxlsx — also supports writing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library(openxlsx)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read.xlsx("data.xlsx", sheet = 1)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Stata Files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.dta format — common in economics &amp; social sciences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3474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51560"/>
            <a:ext cx="64008" cy="1463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Package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haven: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Tidyverse package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foreign: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alternative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Supports: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.dta v12–v18+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3474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97480"/>
            <a:ext cx="64008" cy="14630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&amp; Factors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1089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Stata labels → R attributes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as_factor() converts labels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zap_labels() removes them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06240" y="1005840"/>
            <a:ext cx="4663440" cy="3749040"/>
          </a:xfrm>
          <a:prstGeom prst="rect">
            <a:avLst/>
          </a:prstGeom>
          <a:solidFill>
            <a:srgbClr val="0F2744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1124712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44568" y="1124712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45736" y="1124712"/>
            <a:ext cx="118872" cy="118872"/>
          </a:xfrm>
          <a:prstGeom prst="ellipse">
            <a:avLst/>
          </a:prstGeom>
          <a:solidFill>
            <a:srgbClr val="28C940"/>
          </a:solidFill>
          <a:ln w="12700">
            <a:solidFill>
              <a:srgbClr val="28C9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1325880"/>
            <a:ext cx="43891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haven — primary package (recommended)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library(haven)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Read Stata file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read_dta("data.dta")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Convert labeled vars to factors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read_dta("data.dta") |&gt;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as_factor()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Remove Stata labels (clean data frame)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zap_labels(df)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foreign — older package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library(foreign)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read.dta("data.dta")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Stata version compatibility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haven supports .dta versions 8–18+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foreign supports up to version 12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View variable labels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attr(df$var1, "label")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SPSS Files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.sav format — widely used in psychology &amp; health sciences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3474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51560"/>
            <a:ext cx="64008" cy="1463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Packages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haven: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read_sav() / read_spss()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foreign: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read.spss()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Supports: </a:t>
            </a:r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.sav &amp; .zsav formats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3474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97480"/>
            <a:ext cx="64008" cy="14630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1089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Value labels preserved as attrs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as_factor() to use labels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to_factor() in foreign pkg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06240" y="1005840"/>
            <a:ext cx="4663440" cy="3749040"/>
          </a:xfrm>
          <a:prstGeom prst="rect">
            <a:avLst/>
          </a:prstGeom>
          <a:solidFill>
            <a:srgbClr val="0F2744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1124712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44568" y="1124712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45736" y="1124712"/>
            <a:ext cx="118872" cy="118872"/>
          </a:xfrm>
          <a:prstGeom prst="ellipse">
            <a:avLst/>
          </a:prstGeom>
          <a:solidFill>
            <a:srgbClr val="28C940"/>
          </a:solidFill>
          <a:ln w="12700">
            <a:solidFill>
              <a:srgbClr val="28C9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1325880"/>
            <a:ext cx="43891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haven — recommended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library(haven)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Basic import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read_sav("data.sav")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Alias (same result)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read_spss("data.sav")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Convert value labels to factors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read_sav("data.sav") |&gt;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as_factor()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only specific variables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read_sav("data.sav",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col_select = c(id, age, score))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foreign package alternative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library(foreign)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read.spss("data.sav",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to.data.frame = TRUE,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use.value.labels = TRUE)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Remove SPSS labels for clean df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zap_labels(df)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SAS, JSON &amp; Other Formats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R's import capabilities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40233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4023360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24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Files (.sas7bdat)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444752"/>
            <a:ext cx="3749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library(haven)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read_sas("data.sas7bdat")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With catalog for labels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read_sas("data.sas7bdat",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catalog_file = "formats.sas7bcat")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40233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05840"/>
            <a:ext cx="4023360" cy="384048"/>
          </a:xfrm>
          <a:prstGeom prst="rect">
            <a:avLst/>
          </a:prstGeom>
          <a:solidFill>
            <a:srgbClr val="2196B0"/>
          </a:solidFill>
          <a:ln w="12700">
            <a:solidFill>
              <a:srgbClr val="2196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024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Files (.json)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444752"/>
            <a:ext cx="3749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library(jsonlite)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fromJSON("data.json")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Nested JSON → flatten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&lt;- fromJSON("data.json",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flatten = TRUE)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85953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8152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Formats at a Glance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410712"/>
            <a:ext cx="1645920" cy="246888"/>
          </a:xfrm>
          <a:prstGeom prst="rect">
            <a:avLst/>
          </a:prstGeom>
          <a:solidFill>
            <a:srgbClr val="1B6CA8"/>
          </a:solidFill>
          <a:ln w="12700">
            <a:solidFill>
              <a:srgbClr val="D1E4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42900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20240" y="3410712"/>
            <a:ext cx="1737360" cy="246888"/>
          </a:xfrm>
          <a:prstGeom prst="rect">
            <a:avLst/>
          </a:prstGeom>
          <a:solidFill>
            <a:srgbClr val="1B6CA8"/>
          </a:solidFill>
          <a:ln w="12700">
            <a:solidFill>
              <a:srgbClr val="D1E4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65960" y="34290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0" y="3410712"/>
            <a:ext cx="2651760" cy="246888"/>
          </a:xfrm>
          <a:prstGeom prst="rect">
            <a:avLst/>
          </a:prstGeom>
          <a:solidFill>
            <a:srgbClr val="1B6CA8"/>
          </a:solidFill>
          <a:ln w="12700">
            <a:solidFill>
              <a:srgbClr val="D1E4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34290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3410712"/>
            <a:ext cx="2560320" cy="246888"/>
          </a:xfrm>
          <a:prstGeom prst="rect">
            <a:avLst/>
          </a:prstGeom>
          <a:solidFill>
            <a:srgbClr val="1B6CA8"/>
          </a:solidFill>
          <a:ln w="12700">
            <a:solidFill>
              <a:srgbClr val="D1E4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34290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666744"/>
            <a:ext cx="16459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68503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.txt / .tsv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20240" y="3666744"/>
            <a:ext cx="17373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65960" y="36850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 / readr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0" y="3666744"/>
            <a:ext cx="26517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36850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read.table() / read_tsv()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3666744"/>
            <a:ext cx="25603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36850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sep = '\t'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922776"/>
            <a:ext cx="1645920" cy="246888"/>
          </a:xfrm>
          <a:prstGeom prst="rect">
            <a:avLst/>
          </a:prstGeom>
          <a:solidFill>
            <a:srgbClr val="EBF4FB"/>
          </a:solidFill>
          <a:ln w="12700">
            <a:solidFill>
              <a:srgbClr val="D1E4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94106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.feather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920240" y="3922776"/>
            <a:ext cx="1737360" cy="246888"/>
          </a:xfrm>
          <a:prstGeom prst="rect">
            <a:avLst/>
          </a:prstGeom>
          <a:solidFill>
            <a:srgbClr val="EBF4FB"/>
          </a:solidFill>
          <a:ln w="12700">
            <a:solidFill>
              <a:srgbClr val="D1E4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65960" y="394106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feather / arrow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0" y="3922776"/>
            <a:ext cx="2651760" cy="246888"/>
          </a:xfrm>
          <a:prstGeom prst="rect">
            <a:avLst/>
          </a:prstGeom>
          <a:solidFill>
            <a:srgbClr val="EBF4FB"/>
          </a:solidFill>
          <a:ln w="12700">
            <a:solidFill>
              <a:srgbClr val="D1E4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03320" y="394106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read_feather()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09360" y="3922776"/>
            <a:ext cx="2560320" cy="246888"/>
          </a:xfrm>
          <a:prstGeom prst="rect">
            <a:avLst/>
          </a:prstGeom>
          <a:solidFill>
            <a:srgbClr val="EBF4FB"/>
          </a:solidFill>
          <a:ln w="12700">
            <a:solidFill>
              <a:srgbClr val="D1E4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39410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Ultra-fast columnar format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4178808"/>
            <a:ext cx="16459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1970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.parquet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920240" y="4178808"/>
            <a:ext cx="17373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65960" y="419709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0" y="4178808"/>
            <a:ext cx="26517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03320" y="419709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read_parquet()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309360" y="4178808"/>
            <a:ext cx="25603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41970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data, columnar storage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4320" y="4434840"/>
            <a:ext cx="1645920" cy="246888"/>
          </a:xfrm>
          <a:prstGeom prst="rect">
            <a:avLst/>
          </a:prstGeom>
          <a:solidFill>
            <a:srgbClr val="EBF4FB"/>
          </a:solidFill>
          <a:ln w="12700">
            <a:solidFill>
              <a:srgbClr val="D1E4F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44531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.rds / .rdata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920240" y="4434840"/>
            <a:ext cx="1737360" cy="246888"/>
          </a:xfrm>
          <a:prstGeom prst="rect">
            <a:avLst/>
          </a:prstGeom>
          <a:solidFill>
            <a:srgbClr val="EBF4FB"/>
          </a:solidFill>
          <a:ln w="12700">
            <a:solidFill>
              <a:srgbClr val="D1E4F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65960" y="44531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0" y="4434840"/>
            <a:ext cx="2651760" cy="246888"/>
          </a:xfrm>
          <a:prstGeom prst="rect">
            <a:avLst/>
          </a:prstGeom>
          <a:solidFill>
            <a:srgbClr val="EBF4FB"/>
          </a:solidFill>
          <a:ln w="12700">
            <a:solidFill>
              <a:srgbClr val="D1E4F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03320" y="44531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readRDS() / load()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309360" y="4434840"/>
            <a:ext cx="2560320" cy="246888"/>
          </a:xfrm>
          <a:prstGeom prst="rect">
            <a:avLst/>
          </a:prstGeom>
          <a:solidFill>
            <a:srgbClr val="EBF4FB"/>
          </a:solidFill>
          <a:ln w="12700">
            <a:solidFill>
              <a:srgbClr val="D1E4F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55080" y="44531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R binary format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74320" y="4690872"/>
            <a:ext cx="16459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470916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920240" y="4690872"/>
            <a:ext cx="17373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965960" y="47091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DBI + RSQLite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657600" y="4690872"/>
            <a:ext cx="26517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703320" y="470916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dbGetQuery()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309360" y="4690872"/>
            <a:ext cx="25603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55080" y="47091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directly in 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Quick Reference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for reliable, efficient data importing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115568"/>
            <a:ext cx="640080" cy="640080"/>
          </a:xfrm>
          <a:prstGeom prst="ellipse">
            <a:avLst/>
          </a:prstGeom>
          <a:solidFill>
            <a:srgbClr val="1B6CA8">
              <a:alpha val="85000"/>
            </a:srgbClr>
          </a:solidFill>
          <a:ln w="12700">
            <a:solidFill>
              <a:srgbClr val="1B6CA8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1097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First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41732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glimpse(), str(), or head() after importing to verify column types and missing values.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6771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2377440"/>
            <a:ext cx="640080" cy="640080"/>
          </a:xfrm>
          <a:prstGeom prst="ellipse">
            <a:avLst/>
          </a:prstGeom>
          <a:solidFill>
            <a:srgbClr val="1B6CA8">
              <a:alpha val="85000"/>
            </a:srgbClr>
          </a:solidFill>
          <a:ln w="12700">
            <a:solidFill>
              <a:srgbClr val="1B6CA8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23591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haven for Stats Files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67919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 handles Stata, SPSS, and SAS while preserving labels — prefer it over foreign.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529584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3639312"/>
            <a:ext cx="640080" cy="640080"/>
          </a:xfrm>
          <a:prstGeom prst="ellipse">
            <a:avLst/>
          </a:prstGeom>
          <a:solidFill>
            <a:srgbClr val="1B6CA8">
              <a:alpha val="85000"/>
            </a:srgbClr>
          </a:solidFill>
          <a:ln w="12700">
            <a:solidFill>
              <a:srgbClr val="1B6CA8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639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" y="362102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Files → data.table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394106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CSVs &gt; 100MB, use fread() from data.table — it's 10x faster than base 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10058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64608" y="1115568"/>
            <a:ext cx="640080" cy="640080"/>
          </a:xfrm>
          <a:prstGeom prst="ellipse">
            <a:avLst/>
          </a:prstGeom>
          <a:solidFill>
            <a:srgbClr val="1B6CA8">
              <a:alpha val="85000"/>
            </a:srgbClr>
          </a:solidFill>
          <a:ln w="12700">
            <a:solidFill>
              <a:srgbClr val="1B6CA8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23560" y="1097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Paths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23560" y="141732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here::here() for paths — keeps scripts portable across machines and projects.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26771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64608" y="2377440"/>
            <a:ext cx="640080" cy="640080"/>
          </a:xfrm>
          <a:prstGeom prst="ellipse">
            <a:avLst/>
          </a:prstGeom>
          <a:solidFill>
            <a:srgbClr val="1B6CA8">
              <a:alpha val="85000"/>
            </a:srgbClr>
          </a:solidFill>
          <a:ln w="12700">
            <a:solidFill>
              <a:srgbClr val="1B6CA8">
                <a:alpha val="8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🧹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623560" y="23591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Column Names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23560" y="267919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janitor::clean_names() to auto-fix spaces and special characters in column names.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529584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64608" y="3639312"/>
            <a:ext cx="640080" cy="640080"/>
          </a:xfrm>
          <a:prstGeom prst="ellipse">
            <a:avLst/>
          </a:prstGeom>
          <a:solidFill>
            <a:srgbClr val="1B6CA8">
              <a:alpha val="85000"/>
            </a:srgbClr>
          </a:solidFill>
          <a:ln w="12700">
            <a:solidFill>
              <a:srgbClr val="1B6CA8">
                <a:alpha val="8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3639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623560" y="362102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Labels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623560" y="394106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as_factor() to convert value labels to R factors, or zap_labels() to strip them.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1B6CA8">
              <a:alpha val="15000"/>
            </a:srgbClr>
          </a:solidFill>
          <a:ln w="12700">
            <a:solidFill>
              <a:srgbClr val="1B6CA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5840" y="1234440"/>
            <a:ext cx="237744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27101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234440"/>
            <a:ext cx="237744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6432" y="127101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1234440"/>
            <a:ext cx="237744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33872" y="127101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1618488"/>
            <a:ext cx="2377440" cy="365760"/>
          </a:xfrm>
          <a:prstGeom prst="rect">
            <a:avLst/>
          </a:prstGeom>
          <a:solidFill>
            <a:srgbClr val="0D1F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16550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1618488"/>
            <a:ext cx="2377440" cy="365760"/>
          </a:xfrm>
          <a:prstGeom prst="rect">
            <a:avLst/>
          </a:prstGeom>
          <a:solidFill>
            <a:srgbClr val="0D1F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16550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1618488"/>
            <a:ext cx="2377440" cy="365760"/>
          </a:xfrm>
          <a:prstGeom prst="rect">
            <a:avLst/>
          </a:prstGeom>
          <a:solidFill>
            <a:srgbClr val="0D1F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33872" y="16550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read_csv()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0" y="2002536"/>
            <a:ext cx="2377440" cy="365760"/>
          </a:xfrm>
          <a:prstGeom prst="rect">
            <a:avLst/>
          </a:prstGeom>
          <a:solidFill>
            <a:srgbClr val="1229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203911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2002536"/>
            <a:ext cx="2377440" cy="365760"/>
          </a:xfrm>
          <a:prstGeom prst="rect">
            <a:avLst/>
          </a:prstGeom>
          <a:solidFill>
            <a:srgbClr val="1229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6432" y="203911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readxl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2002536"/>
            <a:ext cx="2377440" cy="365760"/>
          </a:xfrm>
          <a:prstGeom prst="rect">
            <a:avLst/>
          </a:prstGeom>
          <a:solidFill>
            <a:srgbClr val="1229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33872" y="203911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read_excel()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05840" y="2386584"/>
            <a:ext cx="2377440" cy="365760"/>
          </a:xfrm>
          <a:prstGeom prst="rect">
            <a:avLst/>
          </a:prstGeom>
          <a:solidFill>
            <a:srgbClr val="0D1F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24231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Stata .dta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2386584"/>
            <a:ext cx="2377440" cy="365760"/>
          </a:xfrm>
          <a:prstGeom prst="rect">
            <a:avLst/>
          </a:prstGeom>
          <a:solidFill>
            <a:srgbClr val="0D1F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56432" y="24231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haven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60720" y="2386584"/>
            <a:ext cx="2377440" cy="365760"/>
          </a:xfrm>
          <a:prstGeom prst="rect">
            <a:avLst/>
          </a:prstGeom>
          <a:solidFill>
            <a:srgbClr val="0D1F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33872" y="24231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read_dta()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05840" y="2770632"/>
            <a:ext cx="2377440" cy="365760"/>
          </a:xfrm>
          <a:prstGeom prst="rect">
            <a:avLst/>
          </a:prstGeom>
          <a:solidFill>
            <a:srgbClr val="1229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8992" y="28072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SPSS .sav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83280" y="2770632"/>
            <a:ext cx="2377440" cy="365760"/>
          </a:xfrm>
          <a:prstGeom prst="rect">
            <a:avLst/>
          </a:prstGeom>
          <a:solidFill>
            <a:srgbClr val="1229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56432" y="28072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haven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60720" y="2770632"/>
            <a:ext cx="2377440" cy="365760"/>
          </a:xfrm>
          <a:prstGeom prst="rect">
            <a:avLst/>
          </a:prstGeom>
          <a:solidFill>
            <a:srgbClr val="1229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33872" y="28072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read_sav()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05840" y="3154680"/>
            <a:ext cx="2377440" cy="365760"/>
          </a:xfrm>
          <a:prstGeom prst="rect">
            <a:avLst/>
          </a:prstGeom>
          <a:solidFill>
            <a:srgbClr val="0D1F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8992" y="319125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383280" y="3154680"/>
            <a:ext cx="2377440" cy="365760"/>
          </a:xfrm>
          <a:prstGeom prst="rect">
            <a:avLst/>
          </a:prstGeom>
          <a:solidFill>
            <a:srgbClr val="0D1F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56432" y="319125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haven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760720" y="3154680"/>
            <a:ext cx="2377440" cy="365760"/>
          </a:xfrm>
          <a:prstGeom prst="rect">
            <a:avLst/>
          </a:prstGeom>
          <a:solidFill>
            <a:srgbClr val="0D1F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33872" y="319125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read_sas()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005840" y="3538728"/>
            <a:ext cx="2377440" cy="365760"/>
          </a:xfrm>
          <a:prstGeom prst="rect">
            <a:avLst/>
          </a:prstGeom>
          <a:solidFill>
            <a:srgbClr val="1229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78992" y="357530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383280" y="3538728"/>
            <a:ext cx="2377440" cy="365760"/>
          </a:xfrm>
          <a:prstGeom prst="rect">
            <a:avLst/>
          </a:prstGeom>
          <a:solidFill>
            <a:srgbClr val="1229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56432" y="357530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jsonlite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760720" y="3538728"/>
            <a:ext cx="2377440" cy="365760"/>
          </a:xfrm>
          <a:prstGeom prst="rect">
            <a:avLst/>
          </a:prstGeom>
          <a:solidFill>
            <a:srgbClr val="1229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33872" y="357530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fromJSON()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005840" y="3922776"/>
            <a:ext cx="2377440" cy="365760"/>
          </a:xfrm>
          <a:prstGeom prst="rect">
            <a:avLst/>
          </a:prstGeom>
          <a:solidFill>
            <a:srgbClr val="0D1F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78992" y="39593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Parquet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383280" y="3922776"/>
            <a:ext cx="2377440" cy="365760"/>
          </a:xfrm>
          <a:prstGeom prst="rect">
            <a:avLst/>
          </a:prstGeom>
          <a:solidFill>
            <a:srgbClr val="0D1F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56432" y="39593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arrow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760720" y="3922776"/>
            <a:ext cx="2377440" cy="365760"/>
          </a:xfrm>
          <a:prstGeom prst="rect">
            <a:avLst/>
          </a:prstGeom>
          <a:solidFill>
            <a:srgbClr val="0D1F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33872" y="39593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read_parquet()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005840" y="4306824"/>
            <a:ext cx="2377440" cy="365760"/>
          </a:xfrm>
          <a:prstGeom prst="rect">
            <a:avLst/>
          </a:prstGeom>
          <a:solidFill>
            <a:srgbClr val="1229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78992" y="43434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binary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383280" y="4306824"/>
            <a:ext cx="2377440" cy="365760"/>
          </a:xfrm>
          <a:prstGeom prst="rect">
            <a:avLst/>
          </a:prstGeom>
          <a:solidFill>
            <a:srgbClr val="1229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56432" y="43434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R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760720" y="4306824"/>
            <a:ext cx="2377440" cy="365760"/>
          </a:xfrm>
          <a:prstGeom prst="rect">
            <a:avLst/>
          </a:prstGeom>
          <a:solidFill>
            <a:srgbClr val="1229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33872" y="43434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readRDS()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install.packages(c('readr','readxl','haven','jsonlite','arrow','data.table'))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Importing Data in R</dc:title>
  <dc:subject>PptxGenJS Presentation</dc:subject>
  <dc:creator>PptxGenJS</dc:creator>
  <cp:lastModifiedBy>PptxGenJS</cp:lastModifiedBy>
  <cp:revision>1</cp:revision>
  <dcterms:created xsi:type="dcterms:W3CDTF">2026-02-17T18:45:18Z</dcterms:created>
  <dcterms:modified xsi:type="dcterms:W3CDTF">2026-02-17T18:45:18Z</dcterms:modified>
</cp:coreProperties>
</file>